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7315200"/>
  <p:notesSz cx="7315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9590" y="-682752"/>
            <a:ext cx="2674687" cy="3803904"/>
          </a:xfrm>
          <a:prstGeom prst="ellipse">
            <a:avLst/>
          </a:prstGeom>
          <a:solidFill>
            <a:srgbClr val="E8F2FF">
              <a:alpha val="92000"/>
            </a:srgbClr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0072" y="5754624"/>
            <a:ext cx="1851706" cy="263347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7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125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8978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3483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0684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53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2390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8243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409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0811" y="234086"/>
            <a:ext cx="1748834" cy="536448"/>
          </a:xfrm>
          <a:prstGeom prst="roundRect">
            <a:avLst>
              <a:gd name="adj" fmla="val 11932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pic>
        <p:nvPicPr>
          <p:cNvPr id="14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542" y="321869"/>
            <a:ext cx="1522514" cy="44866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34937" y="975360"/>
            <a:ext cx="8106359" cy="5286451"/>
          </a:xfrm>
          <a:prstGeom prst="roundRect">
            <a:avLst>
              <a:gd name="adj" fmla="val 3113"/>
            </a:avLst>
          </a:prstGeom>
          <a:solidFill>
            <a:srgbClr val="FFFFFF">
              <a:alpha val="94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88720" y="1591056"/>
            <a:ext cx="91440" cy="2743200"/>
          </a:xfrm>
          <a:prstGeom prst="rect">
            <a:avLst/>
          </a:prstGeom>
          <a:solidFill>
            <a:srgbClr val="0169CC"/>
          </a:solidFill>
          <a:ln w="12700">
            <a:solidFill>
              <a:srgbClr val="0169C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52173" y="1970227"/>
            <a:ext cx="5726573" cy="2097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Flutter 的跨平台高速文件传输系统设计与实现</a:t>
            </a:r>
            <a:endParaRPr lang="en-US" sz="3400" dirty="0"/>
          </a:p>
        </p:txBody>
      </p:sp>
      <p:sp>
        <p:nvSpPr>
          <p:cNvPr id="18" name="Shape 15"/>
          <p:cNvSpPr/>
          <p:nvPr/>
        </p:nvSpPr>
        <p:spPr>
          <a:xfrm>
            <a:off x="1536192" y="4315968"/>
            <a:ext cx="5166360" cy="0"/>
          </a:xfrm>
          <a:prstGeom prst="line">
            <a:avLst/>
          </a:prstGeom>
          <a:noFill/>
          <a:ln w="33020">
            <a:solidFill>
              <a:srgbClr val="0169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52173" y="4925568"/>
            <a:ext cx="2949014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答辩人：韩义勇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指导教师：__________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9590" y="-682752"/>
            <a:ext cx="2674687" cy="3803904"/>
          </a:xfrm>
          <a:prstGeom prst="ellipse">
            <a:avLst/>
          </a:prstGeom>
          <a:solidFill>
            <a:srgbClr val="E8F2FF">
              <a:alpha val="92000"/>
            </a:srgbClr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0072" y="5754624"/>
            <a:ext cx="1851706" cy="263347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7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125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8978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3483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0684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53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2390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8243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409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0811" y="234086"/>
            <a:ext cx="1748834" cy="536448"/>
          </a:xfrm>
          <a:prstGeom prst="roundRect">
            <a:avLst>
              <a:gd name="adj" fmla="val 11932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pic>
        <p:nvPicPr>
          <p:cNvPr id="14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542" y="321869"/>
            <a:ext cx="1522514" cy="44866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5207" y="536448"/>
            <a:ext cx="6446681" cy="46817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选题背景：跨设备传输仍不够直接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25207" y="1053389"/>
            <a:ext cx="6549554" cy="3511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现有方式各有局限，局域网直传更贴近日常协同场景。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66928" y="5870448"/>
            <a:ext cx="11064240" cy="0"/>
          </a:xfrm>
          <a:prstGeom prst="line">
            <a:avLst/>
          </a:prstGeom>
          <a:noFill/>
          <a:ln w="15240">
            <a:solidFill>
              <a:srgbClr val="D0D6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4937" y="1736141"/>
            <a:ext cx="2434651" cy="2652979"/>
          </a:xfrm>
          <a:prstGeom prst="roundRect">
            <a:avLst>
              <a:gd name="adj" fmla="val 4507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6392" y="1950720"/>
            <a:ext cx="2091742" cy="37063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云盘中转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06392" y="2438400"/>
            <a:ext cx="2091742" cy="1755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先上传再下载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速度受上行带宽影响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文件经过外部服务器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3202766" y="1736141"/>
            <a:ext cx="2434651" cy="2652979"/>
          </a:xfrm>
          <a:prstGeom prst="roundRect">
            <a:avLst>
              <a:gd name="adj" fmla="val 4507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74220" y="1950720"/>
            <a:ext cx="2091742" cy="37063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蓝牙近传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3374220" y="2438400"/>
            <a:ext cx="2091742" cy="1755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不依赖网络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距离和速度受限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大文件体验一般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5870595" y="1736141"/>
            <a:ext cx="2434651" cy="2652979"/>
          </a:xfrm>
          <a:prstGeom prst="roundRect">
            <a:avLst>
              <a:gd name="adj" fmla="val 4507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42049" y="1950720"/>
            <a:ext cx="2091742" cy="37063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厂商互传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042049" y="2438400"/>
            <a:ext cx="2091742" cy="1755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体验通常较好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依赖同一生态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跨品牌兼容不足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1111024" y="4993843"/>
            <a:ext cx="6892462" cy="897331"/>
          </a:xfrm>
          <a:prstGeom prst="roundRect">
            <a:avLst>
              <a:gd name="adj" fmla="val 12228"/>
            </a:avLst>
          </a:prstGeom>
          <a:solidFill>
            <a:srgbClr val="0F1728"/>
          </a:solidFill>
          <a:ln w="14605">
            <a:solidFill>
              <a:srgbClr val="0F172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37343" y="5198669"/>
            <a:ext cx="644668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研究机会：同一局域网内自动发现设备，直接完成文本与文件传输。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9590" y="-682752"/>
            <a:ext cx="2674687" cy="3803904"/>
          </a:xfrm>
          <a:prstGeom prst="ellipse">
            <a:avLst/>
          </a:prstGeom>
          <a:solidFill>
            <a:srgbClr val="E8F2FF">
              <a:alpha val="92000"/>
            </a:srgbClr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0072" y="5754624"/>
            <a:ext cx="1851706" cy="263347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7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125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8978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3483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0684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53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2390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8243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409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0811" y="234086"/>
            <a:ext cx="1748834" cy="536448"/>
          </a:xfrm>
          <a:prstGeom prst="roundRect">
            <a:avLst>
              <a:gd name="adj" fmla="val 11932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pic>
        <p:nvPicPr>
          <p:cNvPr id="14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542" y="321869"/>
            <a:ext cx="1522514" cy="44866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5207" y="536448"/>
            <a:ext cx="6446681" cy="46817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系统目标：从“能传”到“可用”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25207" y="1053389"/>
            <a:ext cx="6549554" cy="3511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Hydrop 不只是 Socket Demo，而是可发现、可交互、可恢复的跨平台应用。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66928" y="5870448"/>
            <a:ext cx="11064240" cy="0"/>
          </a:xfrm>
          <a:prstGeom prst="line">
            <a:avLst/>
          </a:prstGeom>
          <a:noFill/>
          <a:ln w="15240">
            <a:solidFill>
              <a:srgbClr val="D0D6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0108" y="1677619"/>
            <a:ext cx="7667436" cy="1131418"/>
          </a:xfrm>
          <a:prstGeom prst="roundRect">
            <a:avLst>
              <a:gd name="adj" fmla="val 9698"/>
            </a:avLst>
          </a:prstGeom>
          <a:solidFill>
            <a:srgbClr val="0F1728"/>
          </a:solidFill>
          <a:ln w="14605">
            <a:solidFill>
              <a:srgbClr val="0F17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46" y="1892198"/>
            <a:ext cx="7351960" cy="56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设备即联系人：先选择设备，再发送文本和附件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720108" y="3004109"/>
            <a:ext cx="3669122" cy="1677619"/>
          </a:xfrm>
          <a:prstGeom prst="roundRect">
            <a:avLst>
              <a:gd name="adj" fmla="val 6541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3555" y="3160166"/>
            <a:ext cx="3422228" cy="14045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Flutter 一套代码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覆盖移动端和桌面端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4718422" y="3004109"/>
            <a:ext cx="3669122" cy="1677619"/>
          </a:xfrm>
          <a:prstGeom prst="roundRect">
            <a:avLst>
              <a:gd name="adj" fmla="val 6541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1869" y="3160166"/>
            <a:ext cx="3422228" cy="14045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高速直连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局域网内 TCP 传输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减少外网中转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720108" y="4876800"/>
            <a:ext cx="3669122" cy="1345997"/>
          </a:xfrm>
          <a:prstGeom prst="roundRect">
            <a:avLst>
              <a:gd name="adj" fmla="val 8152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3555" y="5032858"/>
            <a:ext cx="3422228" cy="1072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状态可解释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消息状态清晰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进度、速度、错误可见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4718422" y="4876800"/>
            <a:ext cx="3669122" cy="1345997"/>
          </a:xfrm>
          <a:prstGeom prst="roundRect">
            <a:avLst>
              <a:gd name="adj" fmla="val 8152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1869" y="5032858"/>
            <a:ext cx="3422228" cy="1072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数据可恢复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设备、消息、附件落库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中断任务可继续处理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9590" y="-682752"/>
            <a:ext cx="2674687" cy="3803904"/>
          </a:xfrm>
          <a:prstGeom prst="ellipse">
            <a:avLst/>
          </a:prstGeom>
          <a:solidFill>
            <a:srgbClr val="E8F2FF">
              <a:alpha val="92000"/>
            </a:srgbClr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0072" y="5754624"/>
            <a:ext cx="1851706" cy="263347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7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125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8978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3483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0684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53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2390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8243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409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0811" y="234086"/>
            <a:ext cx="1748834" cy="536448"/>
          </a:xfrm>
          <a:prstGeom prst="roundRect">
            <a:avLst>
              <a:gd name="adj" fmla="val 11932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pic>
        <p:nvPicPr>
          <p:cNvPr id="14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542" y="321869"/>
            <a:ext cx="1522514" cy="44866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5207" y="536448"/>
            <a:ext cx="6446681" cy="46817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总体架构：页面不直接碰网络和数据库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25207" y="1053389"/>
            <a:ext cx="6549554" cy="3511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分层的目标是降低 UI 和传输逻辑之间的耦合。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66928" y="5870448"/>
            <a:ext cx="11064240" cy="0"/>
          </a:xfrm>
          <a:prstGeom prst="line">
            <a:avLst/>
          </a:prstGeom>
          <a:noFill/>
          <a:ln w="15240">
            <a:solidFill>
              <a:srgbClr val="D0D6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9533" y="1502054"/>
            <a:ext cx="7653719" cy="897331"/>
          </a:xfrm>
          <a:prstGeom prst="roundRect">
            <a:avLst>
              <a:gd name="adj" fmla="val 12228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4130" y="1745894"/>
            <a:ext cx="6995335" cy="3901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Presentation  |  页面渲染与用户操作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4526393" y="2399386"/>
            <a:ext cx="0" cy="195072"/>
          </a:xfrm>
          <a:prstGeom prst="line">
            <a:avLst/>
          </a:prstGeom>
          <a:noFill/>
          <a:ln w="26670">
            <a:solidFill>
              <a:srgbClr val="0169CC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99533" y="2613965"/>
            <a:ext cx="7653719" cy="897331"/>
          </a:xfrm>
          <a:prstGeom prst="roundRect">
            <a:avLst>
              <a:gd name="adj" fmla="val 12228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4130" y="2857805"/>
            <a:ext cx="6995335" cy="3901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  |  运行时编排与传输控制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4526393" y="3511296"/>
            <a:ext cx="0" cy="195072"/>
          </a:xfrm>
          <a:prstGeom prst="line">
            <a:avLst/>
          </a:prstGeom>
          <a:noFill/>
          <a:ln w="26670">
            <a:solidFill>
              <a:srgbClr val="0169CC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99533" y="3725875"/>
            <a:ext cx="7653719" cy="897331"/>
          </a:xfrm>
          <a:prstGeom prst="roundRect">
            <a:avLst>
              <a:gd name="adj" fmla="val 12228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4130" y="3969715"/>
            <a:ext cx="6995335" cy="3901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 |  仓库、DAO、Drift 数据库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4526393" y="4623206"/>
            <a:ext cx="0" cy="195072"/>
          </a:xfrm>
          <a:prstGeom prst="line">
            <a:avLst/>
          </a:prstGeom>
          <a:noFill/>
          <a:ln w="26670">
            <a:solidFill>
              <a:srgbClr val="0169CC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99533" y="4837786"/>
            <a:ext cx="7653719" cy="897331"/>
          </a:xfrm>
          <a:prstGeom prst="roundRect">
            <a:avLst>
              <a:gd name="adj" fmla="val 12228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4130" y="5081626"/>
            <a:ext cx="6995335" cy="3901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Remote / Platform  |  UDP、TCP、文件系统、通知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1111024" y="5852160"/>
            <a:ext cx="6858171" cy="702259"/>
          </a:xfrm>
          <a:prstGeom prst="roundRect">
            <a:avLst>
              <a:gd name="adj" fmla="val 15625"/>
            </a:avLst>
          </a:prstGeom>
          <a:solidFill>
            <a:srgbClr val="0F1728"/>
          </a:solidFill>
          <a:ln w="14605">
            <a:solidFill>
              <a:srgbClr val="0F172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34471" y="6027725"/>
            <a:ext cx="6611277" cy="3901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核心原则：页面只表达意图，底层能力放到控制器、仓库和服务中。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9590" y="-682752"/>
            <a:ext cx="2674687" cy="3803904"/>
          </a:xfrm>
          <a:prstGeom prst="ellipse">
            <a:avLst/>
          </a:prstGeom>
          <a:solidFill>
            <a:srgbClr val="E8F2FF">
              <a:alpha val="92000"/>
            </a:srgbClr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0072" y="5754624"/>
            <a:ext cx="1851706" cy="263347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7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125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8978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3483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0684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53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2390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8243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409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0811" y="234086"/>
            <a:ext cx="1748834" cy="536448"/>
          </a:xfrm>
          <a:prstGeom prst="roundRect">
            <a:avLst>
              <a:gd name="adj" fmla="val 11932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pic>
        <p:nvPicPr>
          <p:cNvPr id="14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542" y="321869"/>
            <a:ext cx="1522514" cy="44866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5207" y="536448"/>
            <a:ext cx="6446681" cy="46817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亮点一：UDP 自动发现 + 二维码补充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25207" y="1053389"/>
            <a:ext cx="6549554" cy="3511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自动发现降低手动输入 IP 的门槛，二维码作为补充入口。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66928" y="5870448"/>
            <a:ext cx="11064240" cy="0"/>
          </a:xfrm>
          <a:prstGeom prst="line">
            <a:avLst/>
          </a:prstGeom>
          <a:noFill/>
          <a:ln w="15240">
            <a:solidFill>
              <a:srgbClr val="D0D6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84" y="1638605"/>
            <a:ext cx="3429086" cy="936346"/>
          </a:xfrm>
          <a:prstGeom prst="roundRect">
            <a:avLst>
              <a:gd name="adj" fmla="val 11719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115" y="1901952"/>
            <a:ext cx="3127326" cy="3901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枚举网卡  |  地址枚举服务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2366069" y="2574950"/>
            <a:ext cx="0" cy="136550"/>
          </a:xfrm>
          <a:prstGeom prst="line">
            <a:avLst/>
          </a:prstGeom>
          <a:noFill/>
          <a:ln w="26670">
            <a:solidFill>
              <a:srgbClr val="0169CC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58384" y="2711501"/>
            <a:ext cx="3429086" cy="936346"/>
          </a:xfrm>
          <a:prstGeom prst="roundRect">
            <a:avLst>
              <a:gd name="adj" fmla="val 11719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115" y="2974848"/>
            <a:ext cx="3127326" cy="3901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 广播  |  39175 发现报文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2366069" y="3647846"/>
            <a:ext cx="0" cy="136550"/>
          </a:xfrm>
          <a:prstGeom prst="line">
            <a:avLst/>
          </a:prstGeom>
          <a:noFill/>
          <a:ln w="26670">
            <a:solidFill>
              <a:srgbClr val="0169CC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58384" y="3784397"/>
            <a:ext cx="3429086" cy="936346"/>
          </a:xfrm>
          <a:prstGeom prst="roundRect">
            <a:avLst>
              <a:gd name="adj" fmla="val 11719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115" y="4047744"/>
            <a:ext cx="3127326" cy="3901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去重入库  |  nonce + 自设备过滤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2366069" y="4720742"/>
            <a:ext cx="0" cy="136550"/>
          </a:xfrm>
          <a:prstGeom prst="line">
            <a:avLst/>
          </a:prstGeom>
          <a:noFill/>
          <a:ln w="26670">
            <a:solidFill>
              <a:srgbClr val="0169CC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58384" y="4857293"/>
            <a:ext cx="3429086" cy="936346"/>
          </a:xfrm>
          <a:prstGeom prst="roundRect">
            <a:avLst>
              <a:gd name="adj" fmla="val 11719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8115" y="5120640"/>
            <a:ext cx="3127326" cy="3901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在线维护  |  12 秒 TTL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4402946" y="1794662"/>
            <a:ext cx="3991456" cy="1950720"/>
          </a:xfrm>
          <a:prstGeom prst="roundRect">
            <a:avLst>
              <a:gd name="adj" fmla="val 5625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26393" y="1950720"/>
            <a:ext cx="3744562" cy="16776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payload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deviceId、displayName、tcpPort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capabilities、addresses、nonce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4402946" y="4037990"/>
            <a:ext cx="3991456" cy="1580083"/>
          </a:xfrm>
          <a:prstGeom prst="roundRect">
            <a:avLst>
              <a:gd name="adj" fmla="val 6944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26393" y="4194048"/>
            <a:ext cx="3744562" cy="13069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二维码补充路径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广播受限时扫码配对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只传连接元数据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9590" y="-682752"/>
            <a:ext cx="2674687" cy="3803904"/>
          </a:xfrm>
          <a:prstGeom prst="ellipse">
            <a:avLst/>
          </a:prstGeom>
          <a:solidFill>
            <a:srgbClr val="E8F2FF">
              <a:alpha val="92000"/>
            </a:srgbClr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0072" y="5754624"/>
            <a:ext cx="1851706" cy="263347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7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125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8978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3483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0684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53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2390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8243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409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0811" y="234086"/>
            <a:ext cx="1748834" cy="536448"/>
          </a:xfrm>
          <a:prstGeom prst="roundRect">
            <a:avLst>
              <a:gd name="adj" fmla="val 11932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pic>
        <p:nvPicPr>
          <p:cNvPr id="14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542" y="321869"/>
            <a:ext cx="1522514" cy="44866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5207" y="536448"/>
            <a:ext cx="6446681" cy="46817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亮点二：TCP FrameCodec 解决字节流边界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25207" y="1053389"/>
            <a:ext cx="6549554" cy="3511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负责可靠传输，FrameCodec 负责统一业务帧结构。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66928" y="5870448"/>
            <a:ext cx="11064240" cy="0"/>
          </a:xfrm>
          <a:prstGeom prst="line">
            <a:avLst/>
          </a:prstGeom>
          <a:noFill/>
          <a:ln w="15240">
            <a:solidFill>
              <a:srgbClr val="D0D6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84" y="1814170"/>
            <a:ext cx="1728259" cy="1092403"/>
          </a:xfrm>
          <a:prstGeom prst="roundRect">
            <a:avLst>
              <a:gd name="adj" fmla="val 10045"/>
            </a:avLst>
          </a:prstGeom>
          <a:solidFill>
            <a:srgbClr val="0F1728"/>
          </a:solidFill>
          <a:ln w="14605">
            <a:solidFill>
              <a:srgbClr val="0F17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50" y="2223821"/>
            <a:ext cx="1618528" cy="40965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4B  |  header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2729552" y="1814170"/>
            <a:ext cx="1728259" cy="1092403"/>
          </a:xfrm>
          <a:prstGeom prst="roundRect">
            <a:avLst>
              <a:gd name="adj" fmla="val 10045"/>
            </a:avLst>
          </a:prstGeom>
          <a:solidFill>
            <a:srgbClr val="0F1728"/>
          </a:solidFill>
          <a:ln w="14605">
            <a:solidFill>
              <a:srgbClr val="0F17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84418" y="2223821"/>
            <a:ext cx="1618528" cy="40965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4B  |  body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4800720" y="1814170"/>
            <a:ext cx="1728259" cy="1092403"/>
          </a:xfrm>
          <a:prstGeom prst="roundRect">
            <a:avLst>
              <a:gd name="adj" fmla="val 10045"/>
            </a:avLst>
          </a:prstGeom>
          <a:solidFill>
            <a:srgbClr val="F3F8FF"/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55585" y="2223821"/>
            <a:ext cx="1618528" cy="40965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 |  元数据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6871888" y="1814170"/>
            <a:ext cx="1728259" cy="1092403"/>
          </a:xfrm>
          <a:prstGeom prst="roundRect">
            <a:avLst>
              <a:gd name="adj" fmla="val 10045"/>
            </a:avLst>
          </a:prstGeom>
          <a:solidFill>
            <a:srgbClr val="F3F8FF"/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26753" y="2223821"/>
            <a:ext cx="1618528" cy="40965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Binary  |  文件分片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864130" y="3491789"/>
            <a:ext cx="7379392" cy="1053389"/>
          </a:xfrm>
          <a:prstGeom prst="roundRect">
            <a:avLst>
              <a:gd name="adj" fmla="val 10417"/>
            </a:avLst>
          </a:prstGeom>
          <a:solidFill>
            <a:srgbClr val="0F1728"/>
          </a:solidFill>
          <a:ln w="14605">
            <a:solidFill>
              <a:srgbClr val="0F172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73860" y="3823411"/>
            <a:ext cx="7159931" cy="40965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业务流程：offer  -&gt;  chunk  -&gt;  complete  -&gt;  ACK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1385351" y="5188915"/>
            <a:ext cx="6391816" cy="936346"/>
          </a:xfrm>
          <a:prstGeom prst="roundRect">
            <a:avLst>
              <a:gd name="adj" fmla="val 11719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0169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495081" y="5462016"/>
            <a:ext cx="615863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关键参数：TCP 39176 · 分片传输 · SHA-256 校验 · 有限并发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9590" y="-682752"/>
            <a:ext cx="2674687" cy="3803904"/>
          </a:xfrm>
          <a:prstGeom prst="ellipse">
            <a:avLst/>
          </a:prstGeom>
          <a:solidFill>
            <a:srgbClr val="E8F2FF">
              <a:alpha val="92000"/>
            </a:srgbClr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0072" y="5754624"/>
            <a:ext cx="1851706" cy="263347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7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125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8978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3483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0684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53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2390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8243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409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0811" y="234086"/>
            <a:ext cx="1748834" cy="536448"/>
          </a:xfrm>
          <a:prstGeom prst="roundRect">
            <a:avLst>
              <a:gd name="adj" fmla="val 11932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pic>
        <p:nvPicPr>
          <p:cNvPr id="14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542" y="321869"/>
            <a:ext cx="1522514" cy="44866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5207" y="536448"/>
            <a:ext cx="6446681" cy="46817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亮点三：Drift 持久化让状态可恢复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25207" y="1053389"/>
            <a:ext cx="6549554" cy="3511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设备、会话、消息和附件进入同一套本地数据模型。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66928" y="5870448"/>
            <a:ext cx="11064240" cy="0"/>
          </a:xfrm>
          <a:prstGeom prst="line">
            <a:avLst/>
          </a:prstGeom>
          <a:noFill/>
          <a:ln w="15240">
            <a:solidFill>
              <a:srgbClr val="D0D6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52" y="1697126"/>
            <a:ext cx="2194615" cy="3628339"/>
          </a:xfrm>
          <a:prstGeom prst="roundRect">
            <a:avLst>
              <a:gd name="adj" fmla="val 5000"/>
            </a:avLst>
          </a:prstGeom>
          <a:solidFill>
            <a:srgbClr val="0F1728"/>
          </a:solidFill>
          <a:ln w="14605">
            <a:solidFill>
              <a:srgbClr val="0F17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83" y="2067763"/>
            <a:ext cx="1988870" cy="200924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AppDataBase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Drift / SQLite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本地状态唯一来源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3333071" y="1775155"/>
            <a:ext cx="2180899" cy="1189939"/>
          </a:xfrm>
          <a:prstGeom prst="roundRect">
            <a:avLst>
              <a:gd name="adj" fmla="val 9221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29086" y="1950720"/>
            <a:ext cx="1988870" cy="89733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设备与在线状态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5870595" y="1775155"/>
            <a:ext cx="2180899" cy="1189939"/>
          </a:xfrm>
          <a:prstGeom prst="roundRect">
            <a:avLst>
              <a:gd name="adj" fmla="val 9221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66609" y="1950720"/>
            <a:ext cx="1988870" cy="89733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多地址与测速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333071" y="3160166"/>
            <a:ext cx="2180899" cy="1189939"/>
          </a:xfrm>
          <a:prstGeom prst="roundRect">
            <a:avLst>
              <a:gd name="adj" fmla="val 9221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29086" y="3335731"/>
            <a:ext cx="1988870" cy="89733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169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连接会话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5870595" y="3160166"/>
            <a:ext cx="2180899" cy="1189939"/>
          </a:xfrm>
          <a:prstGeom prst="roundRect">
            <a:avLst>
              <a:gd name="adj" fmla="val 9221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66609" y="3335731"/>
            <a:ext cx="1988870" cy="89733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 / Attachment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169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消息、进度与校验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3333071" y="5481523"/>
            <a:ext cx="4814436" cy="838810"/>
          </a:xfrm>
          <a:prstGeom prst="roundRect">
            <a:avLst>
              <a:gd name="adj" fmla="val 13081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0169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29086" y="5754624"/>
            <a:ext cx="4622408" cy="40965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价值：失败、暂停、重启后仍能回到可解释状态。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9590" y="-682752"/>
            <a:ext cx="2674687" cy="3803904"/>
          </a:xfrm>
          <a:prstGeom prst="ellipse">
            <a:avLst/>
          </a:prstGeom>
          <a:solidFill>
            <a:srgbClr val="E8F2FF">
              <a:alpha val="92000"/>
            </a:srgbClr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0072" y="5754624"/>
            <a:ext cx="1851706" cy="263347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7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125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8978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3483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0684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53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2390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8243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409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0811" y="234086"/>
            <a:ext cx="1748834" cy="536448"/>
          </a:xfrm>
          <a:prstGeom prst="roundRect">
            <a:avLst>
              <a:gd name="adj" fmla="val 11932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pic>
        <p:nvPicPr>
          <p:cNvPr id="14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542" y="321869"/>
            <a:ext cx="1522514" cy="44866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5207" y="536448"/>
            <a:ext cx="6446681" cy="46817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亮点四：同一套 Flutter UI 适配手机与桌面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25207" y="1053389"/>
            <a:ext cx="6549554" cy="3511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布局随宽度变化，但功能入口和使用逻辑保持一致。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66928" y="5870448"/>
            <a:ext cx="11064240" cy="0"/>
          </a:xfrm>
          <a:prstGeom prst="line">
            <a:avLst/>
          </a:prstGeom>
          <a:noFill/>
          <a:ln w="15240">
            <a:solidFill>
              <a:srgbClr val="D0D6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86" y="1541069"/>
            <a:ext cx="3634831" cy="4389120"/>
          </a:xfrm>
          <a:prstGeom prst="roundRect">
            <a:avLst>
              <a:gd name="adj" fmla="val 3019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67712" y="1874520"/>
            <a:ext cx="1280160" cy="2377440"/>
          </a:xfrm>
          <a:prstGeom prst="roundRect">
            <a:avLst>
              <a:gd name="adj" fmla="val 10714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87168" y="2249424"/>
            <a:ext cx="841248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87168" y="2761488"/>
            <a:ext cx="841248" cy="274320"/>
          </a:xfrm>
          <a:prstGeom prst="roundRect">
            <a:avLst>
              <a:gd name="adj" fmla="val 13333"/>
            </a:avLst>
          </a:prstGeom>
          <a:solidFill>
            <a:srgbClr val="F3F8FF"/>
          </a:solidFill>
          <a:ln w="12700">
            <a:solidFill>
              <a:srgbClr val="F3F8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87168" y="3273552"/>
            <a:ext cx="841248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5853" y="4915814"/>
            <a:ext cx="2935297" cy="79979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移动端：单栏布局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设备列表进入聊天页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4704706" y="1541069"/>
            <a:ext cx="3634831" cy="4389120"/>
          </a:xfrm>
          <a:prstGeom prst="roundRect">
            <a:avLst>
              <a:gd name="adj" fmla="val 3019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12864" y="2029968"/>
            <a:ext cx="3584448" cy="1901952"/>
          </a:xfrm>
          <a:prstGeom prst="roundRect">
            <a:avLst>
              <a:gd name="adj" fmla="val 3846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95744" y="2286000"/>
            <a:ext cx="530352" cy="1371600"/>
          </a:xfrm>
          <a:prstGeom prst="rect">
            <a:avLst/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27264" y="2286000"/>
            <a:ext cx="95097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979408" y="2286000"/>
            <a:ext cx="1152144" cy="1371600"/>
          </a:xfrm>
          <a:prstGeom prst="rect">
            <a:avLst/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69302" y="4915814"/>
            <a:ext cx="3291922" cy="79979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桌面端：导航 + 列表 + 会话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同页处理更多信息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9590" y="-682752"/>
            <a:ext cx="2674687" cy="3803904"/>
          </a:xfrm>
          <a:prstGeom prst="ellipse">
            <a:avLst/>
          </a:prstGeom>
          <a:solidFill>
            <a:srgbClr val="E8F2FF">
              <a:alpha val="92000"/>
            </a:srgbClr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0072" y="5754624"/>
            <a:ext cx="1851706" cy="263347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7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125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8978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3483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0684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53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2390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8243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409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0811" y="234086"/>
            <a:ext cx="1748834" cy="536448"/>
          </a:xfrm>
          <a:prstGeom prst="roundRect">
            <a:avLst>
              <a:gd name="adj" fmla="val 11932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pic>
        <p:nvPicPr>
          <p:cNvPr id="14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542" y="321869"/>
            <a:ext cx="1522514" cy="44866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5207" y="536448"/>
            <a:ext cx="6446681" cy="46817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核心创新点：不是“传一下文件”这么简单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25207" y="1053389"/>
            <a:ext cx="6549554" cy="3511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重点不是功能堆叠，而是把连接、传输和状态做成完整闭环。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66928" y="5870448"/>
            <a:ext cx="11064240" cy="0"/>
          </a:xfrm>
          <a:prstGeom prst="line">
            <a:avLst/>
          </a:prstGeom>
          <a:noFill/>
          <a:ln w="15240">
            <a:solidFill>
              <a:srgbClr val="D0D6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1221" y="1677619"/>
            <a:ext cx="2551240" cy="3101645"/>
          </a:xfrm>
          <a:prstGeom prst="roundRect">
            <a:avLst>
              <a:gd name="adj" fmla="val 4301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2675" y="1892198"/>
            <a:ext cx="2208331" cy="37063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不是手填 IP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92675" y="2379878"/>
            <a:ext cx="2208331" cy="2204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 自动发现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多网卡地址处理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降低连接门槛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3195908" y="1677619"/>
            <a:ext cx="2551240" cy="3101645"/>
          </a:xfrm>
          <a:prstGeom prst="roundRect">
            <a:avLst>
              <a:gd name="adj" fmla="val 4301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67362" y="1892198"/>
            <a:ext cx="2208331" cy="37063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不是裸 Socket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3367362" y="2379878"/>
            <a:ext cx="2208331" cy="2204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FrameCodec 分帧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offer / chunk / ACK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语义清晰可扩展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5870595" y="1677619"/>
            <a:ext cx="2551240" cy="3101645"/>
          </a:xfrm>
          <a:prstGeom prst="roundRect">
            <a:avLst>
              <a:gd name="adj" fmla="val 4301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42049" y="1892198"/>
            <a:ext cx="2208331" cy="37063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不是临时状态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042049" y="2379878"/>
            <a:ext cx="2208331" cy="2204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消息与附件先落库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支持暂停、取消、恢复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失败原因可回看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2176272" y="5248656"/>
            <a:ext cx="7845552" cy="493776"/>
          </a:xfrm>
          <a:prstGeom prst="roundRect">
            <a:avLst>
              <a:gd name="adj" fmla="val 14815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87110" y="5647334"/>
            <a:ext cx="5774580" cy="42915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一句话：从“能传”提升到“可发现、可恢复、可扩展”。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9590" y="-682752"/>
            <a:ext cx="2674687" cy="3803904"/>
          </a:xfrm>
          <a:prstGeom prst="ellipse">
            <a:avLst/>
          </a:prstGeom>
          <a:solidFill>
            <a:srgbClr val="E8F2FF">
              <a:alpha val="92000"/>
            </a:srgbClr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0072" y="5754624"/>
            <a:ext cx="1851706" cy="263347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7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125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8978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34831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0684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53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2390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8243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4097" y="0"/>
            <a:ext cx="0" cy="7315200"/>
          </a:xfrm>
          <a:prstGeom prst="line">
            <a:avLst/>
          </a:prstGeom>
          <a:noFill/>
          <a:ln w="5715">
            <a:solidFill>
              <a:srgbClr val="D0D6DE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0811" y="234086"/>
            <a:ext cx="1748834" cy="536448"/>
          </a:xfrm>
          <a:prstGeom prst="roundRect">
            <a:avLst>
              <a:gd name="adj" fmla="val 11932"/>
            </a:avLst>
          </a:prstGeom>
          <a:solidFill>
            <a:srgbClr val="0F1728"/>
          </a:solidFill>
          <a:ln w="12700">
            <a:solidFill>
              <a:srgbClr val="0F1728">
                <a:alpha val="0"/>
              </a:srgbClr>
            </a:solidFill>
            <a:prstDash val="solid"/>
          </a:ln>
        </p:spPr>
      </p:sp>
      <p:pic>
        <p:nvPicPr>
          <p:cNvPr id="14" name="Image 0" descr="/Users/admin-and/Downloads/LNT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0542" y="321869"/>
            <a:ext cx="1522514" cy="44866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5207" y="536448"/>
            <a:ext cx="6446681" cy="46817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25207" y="1053389"/>
            <a:ext cx="6549554" cy="3511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Hydrop 已形成局域网文件传输应用的核心闭环。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66928" y="5870448"/>
            <a:ext cx="11064240" cy="0"/>
          </a:xfrm>
          <a:prstGeom prst="line">
            <a:avLst/>
          </a:prstGeom>
          <a:noFill/>
          <a:ln w="15240">
            <a:solidFill>
              <a:srgbClr val="D0D6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68" y="1580083"/>
            <a:ext cx="3813143" cy="3920947"/>
          </a:xfrm>
          <a:prstGeom prst="roundRect">
            <a:avLst>
              <a:gd name="adj" fmla="val 2878"/>
            </a:avLst>
          </a:prstGeom>
          <a:solidFill>
            <a:srgbClr val="FFFFFF">
              <a:alpha val="96000"/>
            </a:srgbClr>
          </a:solidFill>
          <a:ln w="14605">
            <a:solidFill>
              <a:srgbClr val="D0D6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46" y="1931213"/>
            <a:ext cx="3360504" cy="308213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响应式跨平台界面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UDP 发现与二维码配对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TCP 文本和文件传输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Drift 持久化恢复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4787004" y="1580083"/>
            <a:ext cx="3703413" cy="3920947"/>
          </a:xfrm>
          <a:prstGeom prst="roundRect">
            <a:avLst>
              <a:gd name="adj" fmla="val 2963"/>
            </a:avLst>
          </a:prstGeom>
          <a:solidFill>
            <a:srgbClr val="F3F8FF">
              <a:alpha val="96000"/>
            </a:srgbClr>
          </a:solidFill>
          <a:ln w="14605">
            <a:solidFill>
              <a:srgbClr val="B8D7F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33898" y="1931213"/>
            <a:ext cx="3264490" cy="308213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后续工作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完善身份校验与加密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优化断点续传和调度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增强后台策略适配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补充真实多设备场景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1604812" y="5871667"/>
            <a:ext cx="6144922" cy="546202"/>
          </a:xfrm>
          <a:prstGeom prst="roundRect">
            <a:avLst>
              <a:gd name="adj" fmla="val 20089"/>
            </a:avLst>
          </a:prstGeom>
          <a:solidFill>
            <a:srgbClr val="0F1728"/>
          </a:solidFill>
          <a:ln w="14605">
            <a:solidFill>
              <a:srgbClr val="0F17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37523" y="5988710"/>
            <a:ext cx="4265783" cy="40965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谢谢各位老师，请批评指正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LNTU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Flutter 的跨平台高速文件传输系统设计与实现</dc:title>
  <dc:subject>Hydrop undergraduate defense</dc:subject>
  <dc:creator>Codex</dc:creator>
  <cp:lastModifiedBy>Codex</cp:lastModifiedBy>
  <cp:revision>1</cp:revision>
  <dcterms:created xsi:type="dcterms:W3CDTF">2026-06-06T09:52:47Z</dcterms:created>
  <dcterms:modified xsi:type="dcterms:W3CDTF">2026-06-06T09:52:47Z</dcterms:modified>
</cp:coreProperties>
</file>